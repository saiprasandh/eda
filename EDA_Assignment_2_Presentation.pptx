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4da4204-83e8-48ec-c38a-f07f9a51a96f}">
          <p14:sldIdLst>
            <p14:sldId id="256"/>
            <p14:sldId id="257"/>
          </p14:sldIdLst>
        </p14:section>
        <p14:section name="Data" id="{3e75eb38-d54b-df27-c9a7-f537628927c3}">
          <p14:sldIdLst>
            <p14:sldId id="258"/>
          </p14:sldIdLst>
        </p14:section>
        <p14:section name="Exploration" id="{38f4e214-7abd-2e87-6501-b031584e0990}">
          <p14:sldIdLst>
            <p14:sldId id="259"/>
            <p14:sldId id="260"/>
            <p14:sldId id="261"/>
          </p14:sldIdLst>
        </p14:section>
        <p14:section name="Modelling" id="{de32f194-4cda-3014-d190-e0205ccaf17f}">
          <p14:sldIdLst>
            <p14:sldId id="262"/>
            <p14:sldId id="263"/>
          </p14:sldIdLst>
        </p14:section>
        <p14:section name="Wrap-up" id="{e20b26fe-4b0b-52a7-8edb-0a10e21cdc9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65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365D"/>
                </a:solidFill>
                <a:latin typeface="+mn-lt"/>
              </a:rPr>
              <a:t>Test R² (dollar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6C7A8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Ames</c:v>
                  </c:pt>
                  <c:pt idx="1">
                    <c:v>King County</c:v>
                  </c:pt>
                  <c:pt idx="2">
                    <c:v>California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0.9578</c:v>
                </c:pt>
                <c:pt idx="1">
                  <c:v>0.6912</c:v>
                </c:pt>
                <c:pt idx="2">
                  <c:v>0.5743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 (alpha=10)</c:v>
                </c:pt>
              </c:strCache>
            </c:strRef>
          </c:tx>
          <c:spPr>
            <a:solidFill>
              <a:srgbClr val="A9B4C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Ames</c:v>
                  </c:pt>
                  <c:pt idx="1">
                    <c:v>King County</c:v>
                  </c:pt>
                  <c:pt idx="2">
                    <c:v>California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0.9585</c:v>
                </c:pt>
                <c:pt idx="1">
                  <c:v>0.6962</c:v>
                </c:pt>
                <c:pt idx="2">
                  <c:v>0.5743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Ames</c:v>
                  </c:pt>
                  <c:pt idx="1">
                    <c:v>King County</c:v>
                  </c:pt>
                  <c:pt idx="2">
                    <c:v>California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0.9325</c:v>
                </c:pt>
                <c:pt idx="1">
                  <c:v>0.8577</c:v>
                </c:pt>
                <c:pt idx="2">
                  <c:v>0.8151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Ames</c:v>
                  </c:pt>
                  <c:pt idx="1">
                    <c:v>King County</c:v>
                  </c:pt>
                  <c:pt idx="2">
                    <c:v>California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0.9446</c:v>
                </c:pt>
                <c:pt idx="1">
                  <c:v>0.9059</c:v>
                </c:pt>
                <c:pt idx="2">
                  <c:v>0.8451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EF2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365D"/>
                </a:solidFill>
                <a:latin typeface="+mn-lt"/>
              </a:rPr>
              <a:t>Ames · Ridge (alpha=10)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overall quality</c:v>
                  </c:pt>
                  <c:pt idx="1">
                    <c:v>living area</c:v>
                  </c:pt>
                  <c:pt idx="2">
                    <c:v>total sq ft</c:v>
                  </c:pt>
                  <c:pt idx="3">
                    <c:v>1st floor sq ft</c:v>
                  </c:pt>
                  <c:pt idx="4">
                    <c:v>overall condition</c:v>
                  </c:pt>
                  <c:pt idx="5">
                    <c:v>neighbourhood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0.07748</c:v>
                </c:pt>
                <c:pt idx="1">
                  <c:v>0.03756</c:v>
                </c:pt>
                <c:pt idx="2">
                  <c:v>0.02774</c:v>
                </c:pt>
                <c:pt idx="3">
                  <c:v>0.0186</c:v>
                </c:pt>
                <c:pt idx="4">
                  <c:v>0.01591</c:v>
                </c:pt>
                <c:pt idx="5">
                  <c:v>0.01473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365D"/>
                </a:solidFill>
                <a:latin typeface="+mn-lt"/>
              </a:rPr>
              <a:t>King County · Gradient Boosting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latitude</c:v>
                  </c:pt>
                  <c:pt idx="1">
                    <c:v>sqft living</c:v>
                  </c:pt>
                  <c:pt idx="2">
                    <c:v>grade</c:v>
                  </c:pt>
                  <c:pt idx="3">
                    <c:v>longitude</c:v>
                  </c:pt>
                  <c:pt idx="4">
                    <c:v>sqft lot</c:v>
                  </c:pt>
                  <c:pt idx="5">
                    <c:v>zipcode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0.61476</c:v>
                </c:pt>
                <c:pt idx="1">
                  <c:v>0.17878</c:v>
                </c:pt>
                <c:pt idx="2">
                  <c:v>0.12941</c:v>
                </c:pt>
                <c:pt idx="3">
                  <c:v>0.06305</c:v>
                </c:pt>
                <c:pt idx="4">
                  <c:v>0.03271</c:v>
                </c:pt>
                <c:pt idx="5">
                  <c:v>0.01489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365D"/>
                </a:solidFill>
                <a:latin typeface="+mn-lt"/>
              </a:rPr>
              <a:t>California · Gradient Boosting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4365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latitude</c:v>
                  </c:pt>
                  <c:pt idx="1">
                    <c:v>longitude</c:v>
                  </c:pt>
                  <c:pt idx="2">
                    <c:v>median income</c:v>
                  </c:pt>
                  <c:pt idx="3">
                    <c:v>ocean proximity</c:v>
                  </c:pt>
                  <c:pt idx="4">
                    <c:v>pop. per household</c:v>
                  </c:pt>
                  <c:pt idx="5">
                    <c:v>bedrooms / room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0.48386</c:v>
                </c:pt>
                <c:pt idx="1">
                  <c:v>0.39635</c:v>
                </c:pt>
                <c:pt idx="2">
                  <c:v>0.31056</c:v>
                </c:pt>
                <c:pt idx="3">
                  <c:v>0.17832</c:v>
                </c:pt>
                <c:pt idx="4">
                  <c:v>0.10068</c:v>
                </c:pt>
                <c:pt idx="5">
                  <c:v>0.02657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datasets and the goal: understand what drives house prices and how well it can be predicted.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model per dataset on a held-out 20% test set, scored in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follow the meaning of each field – e.g. NA in Pool QC means no pool, not missing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set of 11 charts is in the report and charts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set of 11 charts is in the report and charts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set of 11 charts is in the report and charts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Non-linear location effects explain the large gap between linear and boosted models in the two geographic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Latitude alone carries more predictive power in King County than any other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different places and years, California is block-group data with a price cap, King County ends May 2015.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rgbClr val="14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House Price Analysis and Feature Exploration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Ames Housing · California Housing · King County House Sales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EDA Assignment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Price is predictable – and location decides how</a:t>
            </a:r>
            <a:endParaRPr lang="en-US" sz="3000" dirty="0"/>
          </a:p>
        </p:txBody>
      </p:sp>
      <p:sp>
        <p:nvSpPr>
          <p:cNvPr id="3" name="card Ames"/>
          <p:cNvSpPr/>
          <p:nvPr/>
        </p:nvSpPr>
        <p:spPr>
          <a:xfrm>
            <a:off x="457200" y="13258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 R² · Ridge (alpha=10)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 &amp; size drive price</a:t>
            </a:r>
            <a:endParaRPr lang="en-US" sz="1500" dirty="0"/>
          </a:p>
        </p:txBody>
      </p:sp>
      <p:sp>
        <p:nvSpPr>
          <p:cNvPr id="8" name="card King County"/>
          <p:cNvSpPr/>
          <p:nvPr/>
        </p:nvSpPr>
        <p:spPr>
          <a:xfrm>
            <a:off x="3291840" y="13258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King County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 R² · Gradient Boosting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Latitude is the #1 feature</a:t>
            </a:r>
            <a:endParaRPr lang="en-US" sz="1500" dirty="0"/>
          </a:p>
        </p:txBody>
      </p:sp>
      <p:sp>
        <p:nvSpPr>
          <p:cNvPr id="13" name="card California"/>
          <p:cNvSpPr/>
          <p:nvPr/>
        </p:nvSpPr>
        <p:spPr>
          <a:xfrm>
            <a:off x="6126480" y="13258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California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 R² · Gradient Boosting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Income + coordinates lead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datasets, cleaned with care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005840"/>
                <a:gridCol w="4480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cleaning steps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Ames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2,930 → 2,925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82 → 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‘NA’ means feature absent → ‘None’; Lot Frontage by neighbourhood; 5 outliers above 4,000 sq ft removed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King County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21,613 → 21,603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21 → 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33-bedroom typo fixed; 10 zero-bathroom rows removed; dates parsed, zipcode as 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California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20,640 → 20,561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10 → 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207 missing bedroom counts imputed; $500k cap flagged; 79 implausible blocks removed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eature callout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Engineered features: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house_age · total_sf · total_bath · price_per_sqft · rooms_per_household · log(price)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Ames: build quality and size set the price</a:t>
            </a:r>
            <a:endParaRPr lang="en-US" sz="3000" dirty="0"/>
          </a:p>
        </p:txBody>
      </p:sp>
      <p:pic>
        <p:nvPicPr>
          <p:cNvPr id="3" name="eda chart" descr="/mnt/user-data/outputs/charts/ames_2_feature_relationsh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36592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59552" y="1325880"/>
            <a:ext cx="31272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Overall quality: r = 0.81 with price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 transform removes the skew (1.59 → −0.04)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StoneBr, NridgHt, NoRidge are the priciest areas (~$300–320k median)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Newer homes sell for more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King County: where the house is matters most</a:t>
            </a:r>
            <a:endParaRPr lang="en-US" sz="3000" dirty="0"/>
          </a:p>
        </p:txBody>
      </p:sp>
      <p:pic>
        <p:nvPicPr>
          <p:cNvPr id="3" name="eda chart" descr="/mnt/user-data/outputs/charts/king_2_location_time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30590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8860" y="1325880"/>
            <a:ext cx="35579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Living area r = 0.70, grade r = 0.67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Waterfront median ≈ 3.1× other homes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Seattle–Bellevue and lakefront are the hot zones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Zipcode 98039: median above $1.8M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California: income and coast drive value</a:t>
            </a:r>
            <a:endParaRPr lang="en-US" sz="3000" dirty="0"/>
          </a:p>
        </p:txBody>
      </p:sp>
      <p:pic>
        <p:nvPicPr>
          <p:cNvPr id="3" name="eda chart" descr="/mnt/user-data/outputs/charts/california_2_map_and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69280" cy="24803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55080" y="132588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income: r = 0.69 with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Inland median ≈ $108k vs $215–234k near coast or bay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Pile-up at $500k is a data cap – flagged, not removed</a:t>
            </a:r>
            <a:endParaRPr lang="en-US" sz="1400" dirty="0"/>
          </a:p>
        </p:txBody>
      </p:sp>
      <p:sp>
        <p:nvSpPr>
          <p:cNvPr id="5" name="takeaway"/>
          <p:cNvSpPr/>
          <p:nvPr/>
        </p:nvSpPr>
        <p:spPr>
          <a:xfrm>
            <a:off x="457200" y="3931920"/>
            <a:ext cx="56692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Coastal Bay Area and Los Angeles blocks carry the highest 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Tree boosting wins where geography matters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852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46520" y="13258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Ames: Ridge best (0.96) – small, well-engineered data suits linear models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King County: boosting 0.91 vs 0.70 for linear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California: boosting 0.85 vs 0.57 for linear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Split 80/20, 3-fold CV, log target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best models rely 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2743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154680" y="1188720"/>
          <a:ext cx="2743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5943600" y="1188720"/>
          <a:ext cx="2743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Permutation importance: drop in test R² when a feature is shuffled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Conclusions and next steps</a:t>
            </a:r>
            <a:endParaRPr lang="en-US" sz="3000" dirty="0"/>
          </a:p>
        </p:txBody>
      </p:sp>
      <p:sp>
        <p:nvSpPr>
          <p:cNvPr id="3" name="num 1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Quality and size matter everywhere; location decides in King County and California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Cleaning choices matter: ‘NA’ as absent, flagged caps, fixed typos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Log target + engineered features improved every dataset</a:t>
            </a:r>
            <a:endParaRPr lang="en-US" sz="1500" dirty="0"/>
          </a:p>
        </p:txBody>
      </p:sp>
      <p:sp>
        <p:nvSpPr>
          <p:cNvPr id="12" name="next steps card"/>
          <p:cNvSpPr/>
          <p:nvPr/>
        </p:nvSpPr>
        <p:spPr>
          <a:xfrm>
            <a:off x="5669280" y="1280160"/>
            <a:ext cx="3017520" cy="320040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978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0116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Tune hyper-parameters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distance-to-coast / downtown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Model capped targets explicitly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using EDA">
  <a:themeElements>
    <a:clrScheme name="Housing EDA">
      <a:dk1>
        <a:srgbClr val="1B2A3A"/>
      </a:dk1>
      <a:lt1>
        <a:srgbClr val="FFFFFF"/>
      </a:lt1>
      <a:dk2>
        <a:srgbClr val="14365D"/>
      </a:dk2>
      <a:lt2>
        <a:srgbClr val="EEF2F6"/>
      </a:lt2>
      <a:accent1>
        <a:srgbClr val="14365D"/>
      </a:accent1>
      <a:accent2>
        <a:srgbClr val="E07A3F"/>
      </a:accent2>
      <a:accent3>
        <a:srgbClr val="2A9D8F"/>
      </a:accent3>
      <a:accent4>
        <a:srgbClr val="F2C14E"/>
      </a:accent4>
      <a:accent5>
        <a:srgbClr val="6C7A89"/>
      </a:accent5>
      <a:accent6>
        <a:srgbClr val="8AB17D"/>
      </a:accent6>
      <a:hlink>
        <a:srgbClr val="2A9D8F"/>
      </a:hlink>
      <a:folHlink>
        <a:srgbClr val="6C7A89"/>
      </a:folHlink>
    </a:clrScheme>
    <a:fontScheme name="Housing E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Analysis and Feature Exploration</dc:title>
  <dc:subject>PptxGenJS Presentation</dc:subject>
  <dc:creator>PptxGenJS</dc:creator>
  <cp:lastModifiedBy>PptxGenJS</cp:lastModifiedBy>
  <cp:revision>1</cp:revision>
  <dcterms:created xsi:type="dcterms:W3CDTF">2026-10-21T12:45:54Z</dcterms:created>
  <dcterms:modified xsi:type="dcterms:W3CDTF">2026-10-21T12:45:54Z</dcterms:modified>
</cp:coreProperties>
</file>